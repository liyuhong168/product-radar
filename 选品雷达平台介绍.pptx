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2743200" cy="27432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14B8A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🛰️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选品雷达平台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Radar Platform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UK 自动选品系统 · 多源信号融合 · 数据驱动决策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657600"/>
            <a:ext cx="22860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0" y="4709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🛰️  选品雷达平台 · 核心价值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一个自动化的 Amazon UK 选品辅助平台，每天两次自动扫描 26 个品类，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融合 TikTok/Google/Reddit 等多源趋势信号，产出候选产品并部署到网页端。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25603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965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扫描品类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828800"/>
            <a:ext cx="25603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965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29184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每天扫描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828800"/>
            <a:ext cx="25603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82880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965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126480" y="2606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过滤规则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1554480" cy="457200"/>
          </a:xfrm>
          <a:prstGeom prst="rect">
            <a:avLst>
              <a:gd name="adj" fmla="val 60000"/>
            </a:avLst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023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趋势发现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194560" y="4023360"/>
            <a:ext cx="1554480" cy="457200"/>
          </a:xfrm>
          <a:prstGeom prst="rect">
            <a:avLst>
              <a:gd name="adj" fmla="val 60000"/>
            </a:avLst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2194560" y="4023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雷达扫描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931920" y="4023360"/>
            <a:ext cx="1554480" cy="457200"/>
          </a:xfrm>
          <a:prstGeom prst="rect">
            <a:avLst>
              <a:gd name="adj" fmla="val 60000"/>
            </a:avLst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3931920" y="4023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节日选品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0" y="4023360"/>
            <a:ext cx="1554480" cy="457200"/>
          </a:xfrm>
          <a:prstGeom prst="rect">
            <a:avLst>
              <a:gd name="adj" fmla="val 60000"/>
            </a:avLst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0" y="4023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选品看板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06640" y="4023360"/>
            <a:ext cx="1554480" cy="457200"/>
          </a:xfrm>
          <a:prstGeom prst="rect">
            <a:avLst>
              <a:gd name="adj" fmla="val 60000"/>
            </a:avLst>
          </a:prstGeom>
          <a:solidFill>
            <a:srgbClr val="F43F5E"/>
          </a:solidFill>
          <a:ln/>
        </p:spPr>
      </p:sp>
      <p:sp>
        <p:nvSpPr>
          <p:cNvPr id="26" name="Text 24"/>
          <p:cNvSpPr/>
          <p:nvPr/>
        </p:nvSpPr>
        <p:spPr>
          <a:xfrm>
            <a:off x="7406640" y="40233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反馈学习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12480" y="4709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系统架构 · 数据流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1887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188720" cy="54864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1188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定时触发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09:10 / 14:00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63040" y="914400"/>
            <a:ext cx="274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737360" y="914400"/>
            <a:ext cx="11887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737360" y="914400"/>
            <a:ext cx="11887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737360" y="960120"/>
            <a:ext cx="1188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多源扫描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Amazon/TikTok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/Google/Reddit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6080" y="914400"/>
            <a:ext cx="274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200400" y="914400"/>
            <a:ext cx="11887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914400"/>
            <a:ext cx="11887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960120"/>
            <a:ext cx="1188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自动过滤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价格/品类/利润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/评论数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0" y="914400"/>
            <a:ext cx="274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63440" y="914400"/>
            <a:ext cx="11887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914400"/>
            <a:ext cx="118872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960120"/>
            <a:ext cx="1188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HTML生成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平台页面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趋势+雷达+看板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52160" y="914400"/>
            <a:ext cx="274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126480" y="914400"/>
            <a:ext cx="11887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914400"/>
            <a:ext cx="11887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960120"/>
            <a:ext cx="1188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部署推送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飞书通知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8229600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4" name="Text 22"/>
          <p:cNvSpPr/>
          <p:nvPr/>
        </p:nvSpPr>
        <p:spPr>
          <a:xfrm>
            <a:off x="4114800" y="2377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2880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反馈学习闭环（异步 · 每周六自动执行）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200400"/>
            <a:ext cx="1463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200400"/>
            <a:ext cx="1463040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32461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运营看平台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标记"不考虑"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或标记状态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737360" y="3200400"/>
            <a:ext cx="685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2423160" y="3200400"/>
            <a:ext cx="1463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23160" y="3200400"/>
            <a:ext cx="1463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2423160" y="32461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rejected_by_user.json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记录被拒产品和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理由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886200" y="3200400"/>
            <a:ext cx="685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572000" y="3200400"/>
            <a:ext cx="1463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0" y="3200400"/>
            <a:ext cx="14630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0" y="32461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analyze_rejected.py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分析被拒规律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找共同特征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35040" y="3200400"/>
            <a:ext cx="685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720840" y="3200400"/>
            <a:ext cx="14630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720840" y="3200400"/>
            <a:ext cx="14630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6720840" y="324612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自动优化过滤规则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config.json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减少无效推荐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4360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优化后的规则影响下次扫描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412480" y="4709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趋势发现 — Discovery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运作方式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每天 08:40 AI 自动分析全球趋势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多源扫描：TikTok 热门 + Google 搜索 + Reddit需求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提取上升趋势关键词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自动在 Amazon UK 搜索该关键词的产品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评分：趋势热度 × 竞争度 × 利润窗口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输出带 Amazon/1688 链接直接调研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0" y="100584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0" y="1005840"/>
            <a:ext cx="38404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核心产出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212080" y="1600200"/>
            <a:ext cx="274320" cy="274320"/>
          </a:xfrm>
          <a:prstGeom prst="ellipse">
            <a:avLst/>
          </a:prstGeom>
          <a:solidFill>
            <a:srgbClr val="8B5CF6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212080" y="158191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23560" y="161848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趋势评分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23560" y="180136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每个关键词 0-100 综合评分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212080" y="2148840"/>
            <a:ext cx="274320" cy="274320"/>
          </a:xfrm>
          <a:prstGeom prst="ellipse">
            <a:avLst/>
          </a:prstGeom>
          <a:solidFill>
            <a:srgbClr val="8B5CF6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213055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23560" y="216712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快速跳转链接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23560" y="235000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搜索 + 1688 采购直通车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12080" y="2697480"/>
            <a:ext cx="274320" cy="274320"/>
          </a:xfrm>
          <a:prstGeom prst="ellipse">
            <a:avLst/>
          </a:prstGeom>
          <a:solidFill>
            <a:srgbClr val="8B5CF6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0" y="267919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23560" y="271576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每日更新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23560" y="289864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每天产出新的发现关键词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212080" y="3246120"/>
            <a:ext cx="274320" cy="274320"/>
          </a:xfrm>
          <a:prstGeom prst="ellipse">
            <a:avLst/>
          </a:prstGeom>
          <a:solidFill>
            <a:srgbClr val="8B5CF6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0" y="322783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23560" y="326440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趋势方向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23560" y="344728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标注上升/稳定/下降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212080" y="3794760"/>
            <a:ext cx="274320" cy="274320"/>
          </a:xfrm>
          <a:prstGeom prst="ellipse">
            <a:avLst/>
          </a:prstGeom>
          <a:solidFill>
            <a:srgbClr val="8B5CF6">
              <a:alpha val="8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0" y="377647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🏆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23560" y="381304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竞争评分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23560" y="399592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估算该品类的竞争激烈程度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核心价值：在别人还没发现之前，提前锁定有潜力的品类方向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12480" y="4709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雷达扫描 — Radar Scanning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运作方式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38404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每天 09:10 + 14:00 两次自动扫描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 Amazon UK 26 个品类页面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Releases / Bestsellers / Movers &amp; Shakers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自动过滤不合规产品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产品卡片展示：主图、价格、评分、BSR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扫描结果自动标记新品 vs 重复扫描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383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自动过滤规则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749040"/>
            <a:ext cx="1645920" cy="274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749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价格区间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03120" y="3749040"/>
            <a:ext cx="24688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3749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£6 – 15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4069080"/>
            <a:ext cx="1645920" cy="274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069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利润率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03120" y="4069080"/>
            <a:ext cx="24688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4069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20%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4389120"/>
            <a:ext cx="1645920" cy="274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389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最大重量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03120" y="4389120"/>
            <a:ext cx="24688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03120" y="43891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300g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4709160"/>
            <a:ext cx="1645920" cy="274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709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评论数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103120" y="4709160"/>
            <a:ext cx="24688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03120" y="4709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200（蓝海信号）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5029200"/>
            <a:ext cx="1645920" cy="2743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5029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103120" y="5029200"/>
            <a:ext cx="24688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03120" y="5029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3.5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5349240"/>
            <a:ext cx="1645920" cy="2743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5349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禁止品类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103120" y="5349240"/>
            <a:ext cx="246888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03120" y="5349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电器/灯具/液体/电池/蓝牙等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0" y="868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扫描品类（26个）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29200" y="1234440"/>
            <a:ext cx="1188720" cy="23774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12344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宠物用品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355080" y="1234440"/>
            <a:ext cx="1188720" cy="23774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12344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厨房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680960" y="1234440"/>
            <a:ext cx="1188720" cy="23774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123444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DIY工具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029200" y="1527048"/>
            <a:ext cx="1188720" cy="23774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15270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花园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355080" y="1527048"/>
            <a:ext cx="1188720" cy="23774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55080" y="15270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汽车配件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680960" y="1527048"/>
            <a:ext cx="1188720" cy="23774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80960" y="1527048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运动户外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029200" y="1819656"/>
            <a:ext cx="1188720" cy="23774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0" y="181965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办公用品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355080" y="1819656"/>
            <a:ext cx="1188720" cy="23774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55080" y="181965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浴室配件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680960" y="1819656"/>
            <a:ext cx="1188720" cy="23774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80960" y="181965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收纳整理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029200" y="2112264"/>
            <a:ext cx="1188720" cy="23774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0" y="211226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清洁工具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355080" y="2112264"/>
            <a:ext cx="1188720" cy="23774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55080" y="211226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手工 craft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680960" y="2112264"/>
            <a:ext cx="1188720" cy="23774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80960" y="211226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文具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029200" y="2404872"/>
            <a:ext cx="1188720" cy="23774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0" y="24048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家居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355080" y="2404872"/>
            <a:ext cx="1188720" cy="23774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55080" y="24048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床上用品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680960" y="2404872"/>
            <a:ext cx="1188720" cy="23774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80960" y="24048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旅行配件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5029200" y="2697480"/>
            <a:ext cx="1188720" cy="23774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029200" y="26974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派对用品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355080" y="2697480"/>
            <a:ext cx="1188720" cy="23774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55080" y="26974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手机配件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7680960" y="2697480"/>
            <a:ext cx="1188720" cy="23774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680960" y="2697480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科技配件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8412480" y="4709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节日选品 — Festival Planner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内置英国全年节日/事件日历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自动计算三种物流方式的选品截止日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推荐节日相关选品关键词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提前 47 天（卡航）锁定节日窗口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集成到平台页面实时查看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物流模式 · 选品周期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566160"/>
            <a:ext cx="39319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35661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✈️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5661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空运 · 16天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0" y="35661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高利润/紧急补货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39319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40233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40233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卡航/快铁 · 33天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40233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主力方式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480560"/>
            <a:ext cx="39319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448056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44805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海运 · 63天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44805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大件低价，此项目不用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100584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005840"/>
            <a:ext cx="40233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英国节日日历示例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0" y="1554480"/>
            <a:ext cx="365760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7月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60720" y="1554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夏季大促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户外/花园/派对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029200" y="1975104"/>
            <a:ext cx="3657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197510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760720" y="197510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返校季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8000" y="19751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文具/书包/收纳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0" y="2395728"/>
            <a:ext cx="365760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23957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10月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60720" y="23957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万圣节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58000" y="2395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装饰/派对用品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0" y="2816352"/>
            <a:ext cx="3657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281635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11月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760720" y="281635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黑五/网一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58000" y="28163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全品类热销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029200" y="3236976"/>
            <a:ext cx="365760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3236976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12月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760720" y="323697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圣诞节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858000" y="32369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装饰/礼品/保暖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29200" y="3657600"/>
            <a:ext cx="365760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0" y="3657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1月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760720" y="3657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新年促销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5800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收纳/健身/家居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029200" y="4078224"/>
            <a:ext cx="365760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0" y="4078224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2月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760720" y="40782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情人节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858000" y="40782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礼品/DIY/装饰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提前47天开始关注节日关键词，在别人备货前锁定选品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412480" y="4709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选品看板 — Kanban Pipeline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收件箱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560320" cy="3200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508760"/>
            <a:ext cx="23774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5087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 今日新品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17282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厨房配件 · £8.99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23774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0116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重复扫描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2311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宠物玩具 · £7.50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" y="2514600"/>
            <a:ext cx="2377440" cy="4389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51460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待评估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7340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浴室收纳 · £9.99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383280" y="1005840"/>
            <a:ext cx="2560320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值得做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383280" y="1417320"/>
            <a:ext cx="2560320" cy="3200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7"/>
          <p:cNvSpPr/>
          <p:nvPr/>
        </p:nvSpPr>
        <p:spPr>
          <a:xfrm>
            <a:off x="6309360" y="1005840"/>
            <a:ext cx="256032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005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已验证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1417320"/>
            <a:ext cx="2560320" cy="32004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每个产品可标记状态：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389120"/>
            <a:ext cx="1508760" cy="320040"/>
          </a:xfrm>
          <a:prstGeom prst="rect">
            <a:avLst>
              <a:gd name="adj" fmla="val 57143"/>
            </a:avLst>
          </a:prstGeom>
          <a:solidFill>
            <a:srgbClr val="475569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389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待评估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194560" y="4389120"/>
            <a:ext cx="1508760" cy="320040"/>
          </a:xfrm>
          <a:prstGeom prst="rect">
            <a:avLst>
              <a:gd name="adj" fmla="val 57143"/>
            </a:avLst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2194560" y="4389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找供应商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931920" y="4389120"/>
            <a:ext cx="1508760" cy="320040"/>
          </a:xfrm>
          <a:prstGeom prst="rect">
            <a:avLst>
              <a:gd name="adj" fmla="val 57143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3931920" y="4389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已采样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0" y="4389120"/>
            <a:ext cx="1508760" cy="320040"/>
          </a:xfrm>
          <a:prstGeom prst="rect">
            <a:avLst>
              <a:gd name="adj" fmla="val 57143"/>
            </a:avLst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0" y="4389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已上架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406640" y="4389120"/>
            <a:ext cx="1508760" cy="320040"/>
          </a:xfrm>
          <a:prstGeom prst="rect">
            <a:avLst>
              <a:gd name="adj" fmla="val 57143"/>
            </a:avLst>
          </a:prstGeom>
          <a:solidFill>
            <a:srgbClr val="F43F5E"/>
          </a:solidFill>
          <a:ln/>
        </p:spPr>
      </p:sp>
      <p:sp>
        <p:nvSpPr>
          <p:cNvPr id="32" name="Text 30"/>
          <p:cNvSpPr/>
          <p:nvPr/>
        </p:nvSpPr>
        <p:spPr>
          <a:xfrm>
            <a:off x="7406640" y="438912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不考虑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00400" y="4754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搜同款 / 导出 CSV / 一键跳转 Amazon+1688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412480" y="4709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🧰  分析工具箱 — 深度分析工具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除日常扫描推送外，后台提供按需调用的深度分析工具：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6517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554480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5361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Fusion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965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三层信号融合：趋势分 + 供需缺口 + 利润窗口，综合打分 0-100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37560" y="137160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371600"/>
            <a:ext cx="26517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Shape 11"/>
          <p:cNvSpPr/>
          <p:nvPr/>
        </p:nvSpPr>
        <p:spPr>
          <a:xfrm>
            <a:off x="3520440" y="155448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23360" y="15361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Opportunity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1965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识别"高热度+低供给"的品类缺口，自动生成选品建议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137160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137160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0" y="155448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🏆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03720" y="15361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Competitor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0" y="196596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输入关键词 → 分析竞品格局（CR5集中度/价格带/新品占比）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063240"/>
            <a:ext cx="26517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24612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💬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43000" y="32278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Analyzer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分析差评主题 → 发现差异化切入点和优化方向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37560" y="306324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37560" y="3063240"/>
            <a:ext cx="2651760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1" name="Shape 29"/>
          <p:cNvSpPr/>
          <p:nvPr/>
        </p:nvSpPr>
        <p:spPr>
          <a:xfrm>
            <a:off x="3520440" y="3246120"/>
            <a:ext cx="365760" cy="365760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32" name="Text 30"/>
          <p:cNvSpPr/>
          <p:nvPr/>
        </p:nvSpPr>
        <p:spPr>
          <a:xfrm>
            <a:off x="352044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023360" y="32278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52044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供需比 + 趋势背离检测（需求涨但供给还未跟上的品类）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17920" y="306324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17920" y="3063240"/>
            <a:ext cx="2651760" cy="5486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7" name="Shape 35"/>
          <p:cNvSpPr/>
          <p:nvPr/>
        </p:nvSpPr>
        <p:spPr>
          <a:xfrm>
            <a:off x="6400800" y="3246120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03720" y="32278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Monitor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00800" y="36576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监控已选品类的竞品变化（价格/排名波动告警）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412480" y="4709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选品反馈学习 — Feedback Learning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运作流程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运营在平台看板上标记产品状态（如"不考虑"）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被拒原因自动保存到 rejected_by_user.json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每周六 16:15 自动运行分析脚本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分析被拒产品的共同特征和规律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自动生成配置优化建议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反向优化 config.json 过滤规则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实现"越用越聪明"的自我迭代闭环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0" y="1005840"/>
            <a:ext cx="4023360" cy="54864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反馈闭环示意图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257800" y="1645920"/>
            <a:ext cx="3200400" cy="457200"/>
          </a:xfrm>
          <a:prstGeom prst="rect">
            <a:avLst>
              <a:gd name="adj" fmla="val 20000"/>
            </a:avLst>
          </a:prstGeom>
          <a:solidFill>
            <a:srgbClr val="F43F5E">
              <a:alpha val="1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57800" y="1645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扫描推荐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562269" y="2277755"/>
            <a:ext cx="3200400" cy="457200"/>
          </a:xfrm>
          <a:prstGeom prst="rect">
            <a:avLst>
              <a:gd name="adj" fmla="val 20000"/>
            </a:avLst>
          </a:prstGeom>
          <a:solidFill>
            <a:srgbClr val="F43F5E">
              <a:alpha val="1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2269" y="2277755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运营标记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64006" y="3300085"/>
            <a:ext cx="3200400" cy="457200"/>
          </a:xfrm>
          <a:prstGeom prst="rect">
            <a:avLst>
              <a:gd name="adj" fmla="val 20000"/>
            </a:avLst>
          </a:prstGeom>
          <a:solidFill>
            <a:srgbClr val="F43F5E">
              <a:alpha val="1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64006" y="3300085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数据积累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51594" y="3300085"/>
            <a:ext cx="3200400" cy="457200"/>
          </a:xfrm>
          <a:prstGeom prst="rect">
            <a:avLst>
              <a:gd name="adj" fmla="val 20000"/>
            </a:avLst>
          </a:prstGeom>
          <a:solidFill>
            <a:srgbClr val="F43F5E">
              <a:alpha val="1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51594" y="3300085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规律分析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53331" y="2277755"/>
            <a:ext cx="3200400" cy="457200"/>
          </a:xfrm>
          <a:prstGeom prst="rect">
            <a:avLst>
              <a:gd name="adj" fmla="val 20000"/>
            </a:avLst>
          </a:prstGeom>
          <a:solidFill>
            <a:srgbClr val="F43F5E">
              <a:alpha val="1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53331" y="2277755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规则优化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52160" y="21031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闭环迭代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越用越准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03720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9244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3017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5780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系统越用越准确 — 团队标记越多，过滤规则越精准，无效推荐越少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12480" y="4709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自动化推送 · 每日日程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0" cy="347472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0" cy="256032"/>
          </a:xfrm>
          <a:prstGeom prst="rect">
            <a:avLst>
              <a:gd name="adj" fmla="val 53571"/>
            </a:avLst>
          </a:prstGeom>
          <a:solidFill>
            <a:srgbClr val="47556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08:40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12064" y="1572768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1188720"/>
            <a:ext cx="71323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71600" y="1188720"/>
            <a:ext cx="54864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1188720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11680" y="1216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选品发现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11680" y="1490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趋势分析 → 发现新关键词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993392"/>
            <a:ext cx="731520" cy="256032"/>
          </a:xfrm>
          <a:prstGeom prst="rect">
            <a:avLst>
              <a:gd name="adj" fmla="val 53571"/>
            </a:avLst>
          </a:prstGeom>
          <a:solidFill>
            <a:srgbClr val="47556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993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12064" y="2286000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Shape 14"/>
          <p:cNvSpPr/>
          <p:nvPr/>
        </p:nvSpPr>
        <p:spPr>
          <a:xfrm>
            <a:off x="1371600" y="1901952"/>
            <a:ext cx="71323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371600" y="1901952"/>
            <a:ext cx="54864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1554480" y="1901952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011680" y="19293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雷达扫描（上午）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11680" y="220370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26品类自动扫描 + 过滤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706624"/>
            <a:ext cx="731520" cy="256032"/>
          </a:xfrm>
          <a:prstGeom prst="rect">
            <a:avLst>
              <a:gd name="adj" fmla="val 53571"/>
            </a:avLst>
          </a:prstGeom>
          <a:solidFill>
            <a:srgbClr val="475569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70662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09:20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12064" y="2999232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1371600" y="2615184"/>
            <a:ext cx="71323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371600" y="2615184"/>
            <a:ext cx="54864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1554480" y="2615184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011680" y="26426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季节性备货提醒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011680" y="29169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周一/四提醒节日窗口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419856"/>
            <a:ext cx="731520" cy="256032"/>
          </a:xfrm>
          <a:prstGeom prst="rect">
            <a:avLst>
              <a:gd name="adj" fmla="val 53571"/>
            </a:avLst>
          </a:prstGeom>
          <a:solidFill>
            <a:srgbClr val="475569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41985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12064" y="3712464"/>
            <a:ext cx="164592" cy="16459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2" name="Shape 30"/>
          <p:cNvSpPr/>
          <p:nvPr/>
        </p:nvSpPr>
        <p:spPr>
          <a:xfrm>
            <a:off x="1371600" y="3328416"/>
            <a:ext cx="71323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371600" y="3328416"/>
            <a:ext cx="54864" cy="5943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Text 32"/>
          <p:cNvSpPr/>
          <p:nvPr/>
        </p:nvSpPr>
        <p:spPr>
          <a:xfrm>
            <a:off x="1554480" y="3328416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📡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2011680" y="3355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雷达扫描（下午）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011680" y="3630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第二轮品类扫描更新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133088"/>
            <a:ext cx="731520" cy="256032"/>
          </a:xfrm>
          <a:prstGeom prst="rect">
            <a:avLst>
              <a:gd name="adj" fmla="val 53571"/>
            </a:avLst>
          </a:prstGeom>
          <a:solidFill>
            <a:srgbClr val="475569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1330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12064" y="4425696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0" name="Shape 38"/>
          <p:cNvSpPr/>
          <p:nvPr/>
        </p:nvSpPr>
        <p:spPr>
          <a:xfrm>
            <a:off x="1371600" y="4041648"/>
            <a:ext cx="71323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371600" y="4041648"/>
            <a:ext cx="54864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1554480" y="4041648"/>
            <a:ext cx="365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2011680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选品日报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01168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当日选品汇总 + 新品统计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371600" y="4572000"/>
            <a:ext cx="7132320" cy="365760"/>
          </a:xfrm>
          <a:prstGeom prst="rect">
            <a:avLst/>
          </a:prstGeom>
          <a:solidFill>
            <a:srgbClr val="0D9488">
              <a:alpha val="1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1371600" y="45720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所有推送自动发送到「工作助理群」，团队无需手动操作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412480" y="4709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平台页面 · 一览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32004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1060704"/>
            <a:ext cx="4572000" cy="210312"/>
          </a:xfrm>
          <a:prstGeom prst="rect">
            <a:avLst>
              <a:gd name="adj" fmla="val 52174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417320"/>
            <a:ext cx="1554480" cy="292608"/>
          </a:xfrm>
          <a:prstGeom prst="rect">
            <a:avLst>
              <a:gd name="adj" fmla="val 25000"/>
            </a:avLst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4173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趋势发现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0" y="1417320"/>
            <a:ext cx="1554480" cy="292608"/>
          </a:xfrm>
          <a:prstGeom prst="rect">
            <a:avLst>
              <a:gd name="adj" fmla="val 25000"/>
            </a:avLst>
          </a:prstGeom>
          <a:solidFill>
            <a:srgbClr val="F1F5F9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14173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雷达扫描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480560" y="1417320"/>
            <a:ext cx="1554480" cy="292608"/>
          </a:xfrm>
          <a:prstGeom prst="rect">
            <a:avLst>
              <a:gd name="adj" fmla="val 25000"/>
            </a:avLst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14173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节日选品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217920" y="1417320"/>
            <a:ext cx="1554480" cy="292608"/>
          </a:xfrm>
          <a:prstGeom prst="rect">
            <a:avLst>
              <a:gd name="adj" fmla="val 25000"/>
            </a:avLst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4173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选品看板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955280" y="1417320"/>
            <a:ext cx="1554480" cy="292608"/>
          </a:xfrm>
          <a:prstGeom prst="rect">
            <a:avLst>
              <a:gd name="adj" fmla="val 25000"/>
            </a:avLst>
          </a:prstGeom>
          <a:solidFill>
            <a:srgbClr val="F1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7955280" y="14173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反馈数据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05840" y="1920240"/>
            <a:ext cx="3383280" cy="10972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2011680"/>
            <a:ext cx="731520" cy="914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Shape 16"/>
          <p:cNvSpPr/>
          <p:nvPr/>
        </p:nvSpPr>
        <p:spPr>
          <a:xfrm>
            <a:off x="1965960" y="2057400"/>
            <a:ext cx="164592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9" name="Shape 17"/>
          <p:cNvSpPr/>
          <p:nvPr/>
        </p:nvSpPr>
        <p:spPr>
          <a:xfrm>
            <a:off x="1965960" y="2176272"/>
            <a:ext cx="2286000" cy="73152"/>
          </a:xfrm>
          <a:prstGeom prst="rect">
            <a:avLst/>
          </a:prstGeom>
          <a:solidFill>
            <a:srgbClr val="475569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965960" y="2377440"/>
            <a:ext cx="45720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Shape 19"/>
          <p:cNvSpPr/>
          <p:nvPr/>
        </p:nvSpPr>
        <p:spPr>
          <a:xfrm>
            <a:off x="1965960" y="2560320"/>
            <a:ext cx="822960" cy="73152"/>
          </a:xfrm>
          <a:prstGeom prst="rect">
            <a:avLst/>
          </a:prstGeom>
          <a:solidFill>
            <a:srgbClr val="F59E0B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566160" y="2011680"/>
            <a:ext cx="594360" cy="201168"/>
          </a:xfrm>
          <a:prstGeom prst="rect">
            <a:avLst>
              <a:gd name="adj" fmla="val 22727"/>
            </a:avLst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3566160" y="201168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663440" y="1920240"/>
            <a:ext cx="3383280" cy="10972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011680"/>
            <a:ext cx="731520" cy="914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6" name="Shape 24"/>
          <p:cNvSpPr/>
          <p:nvPr/>
        </p:nvSpPr>
        <p:spPr>
          <a:xfrm>
            <a:off x="5623560" y="2057400"/>
            <a:ext cx="164592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Shape 25"/>
          <p:cNvSpPr/>
          <p:nvPr/>
        </p:nvSpPr>
        <p:spPr>
          <a:xfrm>
            <a:off x="5623560" y="2176272"/>
            <a:ext cx="2286000" cy="73152"/>
          </a:xfrm>
          <a:prstGeom prst="rect">
            <a:avLst/>
          </a:prstGeom>
          <a:solidFill>
            <a:srgbClr val="475569">
              <a:alpha val="5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623560" y="2377440"/>
            <a:ext cx="45720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Shape 27"/>
          <p:cNvSpPr/>
          <p:nvPr/>
        </p:nvSpPr>
        <p:spPr>
          <a:xfrm>
            <a:off x="5623560" y="2560320"/>
            <a:ext cx="822960" cy="73152"/>
          </a:xfrm>
          <a:prstGeom prst="rect">
            <a:avLst/>
          </a:prstGeom>
          <a:solidFill>
            <a:srgbClr val="F59E0B">
              <a:alpha val="6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05840" y="3200400"/>
            <a:ext cx="3383280" cy="10972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97280" y="3291840"/>
            <a:ext cx="731520" cy="914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2" name="Shape 30"/>
          <p:cNvSpPr/>
          <p:nvPr/>
        </p:nvSpPr>
        <p:spPr>
          <a:xfrm>
            <a:off x="1965960" y="3337560"/>
            <a:ext cx="164592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3" name="Shape 31"/>
          <p:cNvSpPr/>
          <p:nvPr/>
        </p:nvSpPr>
        <p:spPr>
          <a:xfrm>
            <a:off x="1965960" y="3456432"/>
            <a:ext cx="2286000" cy="73152"/>
          </a:xfrm>
          <a:prstGeom prst="rect">
            <a:avLst/>
          </a:prstGeom>
          <a:solidFill>
            <a:srgbClr val="475569">
              <a:alpha val="5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965960" y="3657600"/>
            <a:ext cx="45720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Shape 33"/>
          <p:cNvSpPr/>
          <p:nvPr/>
        </p:nvSpPr>
        <p:spPr>
          <a:xfrm>
            <a:off x="1965960" y="3840480"/>
            <a:ext cx="822960" cy="73152"/>
          </a:xfrm>
          <a:prstGeom prst="rect">
            <a:avLst/>
          </a:prstGeom>
          <a:solidFill>
            <a:srgbClr val="F59E0B">
              <a:alpha val="6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566160" y="3291840"/>
            <a:ext cx="594360" cy="201168"/>
          </a:xfrm>
          <a:prstGeom prst="rect">
            <a:avLst>
              <a:gd name="adj" fmla="val 22727"/>
            </a:avLst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3566160" y="32918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🆕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663440" y="3200400"/>
            <a:ext cx="3383280" cy="109728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54880" y="3291840"/>
            <a:ext cx="731520" cy="914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Shape 38"/>
          <p:cNvSpPr/>
          <p:nvPr/>
        </p:nvSpPr>
        <p:spPr>
          <a:xfrm>
            <a:off x="5623560" y="3337560"/>
            <a:ext cx="1645920" cy="7315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1" name="Shape 39"/>
          <p:cNvSpPr/>
          <p:nvPr/>
        </p:nvSpPr>
        <p:spPr>
          <a:xfrm>
            <a:off x="5623560" y="3456432"/>
            <a:ext cx="2286000" cy="73152"/>
          </a:xfrm>
          <a:prstGeom prst="rect">
            <a:avLst/>
          </a:prstGeom>
          <a:solidFill>
            <a:srgbClr val="475569">
              <a:alpha val="5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623560" y="3657600"/>
            <a:ext cx="45720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3" name="Shape 41"/>
          <p:cNvSpPr/>
          <p:nvPr/>
        </p:nvSpPr>
        <p:spPr>
          <a:xfrm>
            <a:off x="5623560" y="3840480"/>
            <a:ext cx="822960" cy="73152"/>
          </a:xfrm>
          <a:prstGeom prst="rect">
            <a:avLst/>
          </a:prstGeom>
          <a:solidFill>
            <a:srgbClr val="F59E0B">
              <a:alpha val="6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8412480" y="4709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为什么选这个方案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1280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全自动 · 零人工干预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从扫描到过滤到推送完全自动化，每天只需看结果做决策，省去人工翻页时间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8016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760720" y="12801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多源信号融合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0" y="18745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不止扫 Amazon，还融合 TikTok/Google/Reddit 趋势，提前找到上升品类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0896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71600" y="3108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自迭代 · 越用越准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" y="37033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反馈学习系统自动分析被拒产品，持续优化过滤规则，无效推荐越来越少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29260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310896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760720" y="3108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数据可追溯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120640" y="37033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每天数据存档，历史趋势可回溯，选品决策有据可依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12480" y="4709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4572000" cy="4572000"/>
          </a:xfrm>
          <a:prstGeom prst="ellipse">
            <a:avLst/>
          </a:prstGeom>
          <a:solidFill>
            <a:srgbClr val="14B8A6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0" y="73152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🛰️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选品雷达平台 · Product Radar Platform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团队内部使用 · 持续迭代中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如有疑问或有想增加的品类，随时跟我说 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0" y="4709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选品雷达平台介绍</dc:title>
  <dc:subject>PptxGenJS Presentation</dc:subject>
  <dc:creator>Lee</dc:creator>
  <cp:lastModifiedBy>Lee</cp:lastModifiedBy>
  <cp:revision>1</cp:revision>
  <dcterms:created xsi:type="dcterms:W3CDTF">2026-07-09T00:06:00Z</dcterms:created>
  <dcterms:modified xsi:type="dcterms:W3CDTF">2026-07-09T00:06:00Z</dcterms:modified>
</cp:coreProperties>
</file>